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这是图文组合练习文件；灰色区域为中性占位，不是课程实验或研究结果。原生矩形、文本和箭头可编辑。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这是图文组合练习文件；灰色区域为中性占位，不是课程实验或研究结果。原生矩形、文本和箭头可编辑。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这是图文组合练习文件；灰色区域为中性占位，不是课程实验或研究结果。原生矩形、文本和箭头可编辑。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这是图文组合练习文件；灰色区域为中性占位，不是课程实验或研究结果。原生矩形、文本和箭头可编辑。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这是图文组合练习文件；灰色区域为中性占位，不是课程实验或研究结果。原生矩形、文本和箭头可编辑。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这是图文组合练习文件；灰色区域为中性占位，不是课程实验或研究结果。原生矩形、文本和箭头可编辑。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4BA3"/>
                </a:solidFill>
                <a:latin typeface="Microsoft YaHei"/>
              </a:defRPr>
            </a:pPr>
            <a:r>
              <a:t>白底图名压住粗边框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1717"/>
                </a:solidFill>
                <a:latin typeface="Microsoft YaHei"/>
              </a:defRPr>
            </a:pPr>
            <a:r>
              <a:t>白底只遮住图名背后的边线；图、框、文字均可编辑。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965960"/>
            <a:ext cx="7589520" cy="347472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342900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7772400" cy="3931920"/>
          </a:xfrm>
          <a:prstGeom prst="rect">
            <a:avLst/>
          </a:prstGeom>
          <a:noFill/>
          <a:ln w="31750">
            <a:solidFill>
              <a:srgbClr val="0B4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5504688"/>
            <a:ext cx="2743200" cy="56692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4BA3"/>
                </a:solidFill>
                <a:latin typeface="Microsoft YaHei"/>
              </a:defRPr>
            </a:pPr>
            <a:r>
              <a:t>关键实验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4BA3"/>
                </a:solidFill>
                <a:latin typeface="Microsoft YaHei"/>
              </a:defRPr>
            </a:pPr>
            <a:r>
              <a:t>并列条件与共同外框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1717"/>
                </a:solidFill>
                <a:latin typeface="Microsoft YaHei"/>
              </a:defRPr>
            </a:pPr>
            <a:r>
              <a:t>同一任务的两个条件，保留相同尺度与对齐关系。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698480" cy="3794760"/>
          </a:xfrm>
          <a:prstGeom prst="rect">
            <a:avLst/>
          </a:prstGeom>
          <a:noFill/>
          <a:ln w="25400">
            <a:solidFill>
              <a:srgbClr val="0B4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2377440"/>
            <a:ext cx="4709160" cy="269748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451860"/>
            <a:ext cx="4343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5440680"/>
            <a:ext cx="2057400" cy="56692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B4BA3"/>
                </a:solidFill>
                <a:latin typeface="Microsoft YaHei"/>
              </a:defRPr>
            </a:pPr>
            <a:r>
              <a:t>条件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377440"/>
            <a:ext cx="4709160" cy="269748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3451860"/>
            <a:ext cx="4343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5440680"/>
            <a:ext cx="2057400" cy="56692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C00000"/>
                </a:solidFill>
                <a:latin typeface="Microsoft YaHei"/>
              </a:defRPr>
            </a:pPr>
            <a:r>
              <a:t>条件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4BA3"/>
                </a:solidFill>
                <a:latin typeface="Microsoft YaHei"/>
              </a:defRPr>
            </a:pPr>
            <a:r>
              <a:t>角标与局部说明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1717"/>
                </a:solidFill>
                <a:latin typeface="Microsoft YaHei"/>
              </a:defRPr>
            </a:pPr>
            <a:r>
              <a:t>多个同类小图可以少用边框，靠角标和短标签组织。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23160"/>
            <a:ext cx="3154680" cy="233172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14700"/>
            <a:ext cx="2788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2331720"/>
            <a:ext cx="54864" cy="475488"/>
          </a:xfrm>
          <a:prstGeom prst="rect">
            <a:avLst/>
          </a:prstGeom>
          <a:solidFill>
            <a:srgbClr val="0B4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2331720"/>
            <a:ext cx="475488" cy="54864"/>
          </a:xfrm>
          <a:prstGeom prst="rect">
            <a:avLst/>
          </a:prstGeom>
          <a:solidFill>
            <a:srgbClr val="0B4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2743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接触前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423160"/>
            <a:ext cx="3154680" cy="233172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3314700"/>
            <a:ext cx="2788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331720"/>
            <a:ext cx="54864" cy="475488"/>
          </a:xfrm>
          <a:prstGeom prst="rect">
            <a:avLst/>
          </a:prstGeom>
          <a:solidFill>
            <a:srgbClr val="0B4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7992" y="2331720"/>
            <a:ext cx="475488" cy="54864"/>
          </a:xfrm>
          <a:prstGeom prst="rect">
            <a:avLst/>
          </a:prstGeom>
          <a:solidFill>
            <a:srgbClr val="0B4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4937760"/>
            <a:ext cx="2743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接触建立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2423160"/>
            <a:ext cx="3154680" cy="233172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3314700"/>
            <a:ext cx="2788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48472" y="2331720"/>
            <a:ext cx="54864" cy="475488"/>
          </a:xfrm>
          <a:prstGeom prst="rect">
            <a:avLst/>
          </a:prstGeom>
          <a:solidFill>
            <a:srgbClr val="0B4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48472" y="2331720"/>
            <a:ext cx="475488" cy="54864"/>
          </a:xfrm>
          <a:prstGeom prst="rect">
            <a:avLst/>
          </a:prstGeom>
          <a:solidFill>
            <a:srgbClr val="0B4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4937760"/>
            <a:ext cx="2743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接触变化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4BA3"/>
                </a:solidFill>
                <a:latin typeface="Microsoft YaHei"/>
              </a:defRPr>
            </a:pPr>
            <a:r>
              <a:t>侧边色线联系解释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1717"/>
                </a:solidFill>
                <a:latin typeface="Microsoft YaHei"/>
              </a:defRPr>
            </a:pPr>
            <a:r>
              <a:t>图侧说明对准图内对象，边线不绕整页一圈。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6400800" cy="347472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6035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实验画面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54864" cy="3474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24688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部件与观测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154680"/>
            <a:ext cx="3657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71717"/>
                </a:solidFill>
                <a:latin typeface="Microsoft YaHei"/>
              </a:defRPr>
            </a:pPr>
            <a:r>
              <a:t>说明对应图中的具体对象。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3891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0000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5029200"/>
            <a:ext cx="3657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71717"/>
                </a:solidFill>
                <a:latin typeface="Microsoft YaHei"/>
              </a:defRPr>
            </a:pPr>
            <a:r>
              <a:t>短句说明条件与结论。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4BA3"/>
                </a:solidFill>
                <a:latin typeface="Microsoft YaHei"/>
              </a:defRPr>
            </a:pPr>
            <a:r>
              <a:t>视频画面与色签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1717"/>
                </a:solidFill>
                <a:latin typeface="Microsoft YaHei"/>
              </a:defRPr>
            </a:pPr>
            <a:r>
              <a:t>色签在画面外侧，避免遮住工件、手指和实验数据。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965960"/>
            <a:ext cx="7772400" cy="356616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3474720"/>
            <a:ext cx="7406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视频区域（此附件不含媒体）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157984" y="1929384"/>
            <a:ext cx="7845552" cy="3639312"/>
          </a:xfrm>
          <a:prstGeom prst="rect">
            <a:avLst/>
          </a:prstGeom>
          <a:noFill/>
          <a:ln w="19050">
            <a:solidFill>
              <a:srgbClr val="0B4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5650992"/>
            <a:ext cx="3566160" cy="594360"/>
          </a:xfrm>
          <a:prstGeom prst="rect">
            <a:avLst/>
          </a:prstGeom>
          <a:solidFill>
            <a:srgbClr val="0B4BA3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任务与接触过程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4BA3"/>
                </a:solidFill>
                <a:latin typeface="Microsoft YaHei"/>
              </a:defRPr>
            </a:pPr>
            <a:r>
              <a:t>部件、过程与系统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71717"/>
                </a:solidFill>
                <a:latin typeface="Microsoft YaHei"/>
              </a:defRPr>
            </a:pPr>
            <a:r>
              <a:t>箭头只表达真实先后或连接；并列内容不强画流程。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2926080" cy="274320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器件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21208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器件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40480" y="3429000"/>
            <a:ext cx="530352" cy="457200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17720" y="2286000"/>
            <a:ext cx="2926080" cy="274320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33832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接触过程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59" y="521208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接触过程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26679" y="3429000"/>
            <a:ext cx="530352" cy="457200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2286000"/>
            <a:ext cx="2926080" cy="2743200"/>
          </a:xfrm>
          <a:prstGeom prst="rect">
            <a:avLst/>
          </a:prstGeom>
          <a:solidFill>
            <a:srgbClr val="ED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33832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6B7789"/>
                </a:solidFill>
                <a:latin typeface="Microsoft YaHei"/>
              </a:defRPr>
            </a:pPr>
            <a:r>
              <a:t>系统观测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21208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B4BA3"/>
                </a:solidFill>
                <a:latin typeface="Microsoft YaHei"/>
              </a:defRPr>
            </a:pPr>
            <a:r>
              <a:t>系统观测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